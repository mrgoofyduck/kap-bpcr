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1" r:id="rId22"/>
    <p:sldId id="272" r:id="rId23"/>
    <p:sldId id="273" r:id="rId24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74" r:id="rId25"/>
    <p:sldId id="265" r:id="rId16"/>
    <p:sldId id="266" r:id="rId17"/>
    <p:sldId id="267" r:id="rId18"/>
    <p:sldId id="270" r:id="rId21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KAP-BPCR Prediction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Final clean version: data, models, explainability, errors, efficiency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2926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938528"/>
            <a:ext cx="259689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411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Survey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828800"/>
            <a:ext cx="2926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82312" y="1938528"/>
            <a:ext cx="259689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766E"/>
                </a:solidFill>
              </a:defRPr>
            </a:pPr>
            <a:r>
              <a:t>73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Original 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828800"/>
            <a:ext cx="2926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1938528"/>
            <a:ext cx="259689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&gt;=5 / 8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Good BPCR cutoff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49039"/>
            <a:ext cx="9875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Goal: predict good birth preparedness and complication readiness practice.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Method: one clean machine learning pipeline, not separate pasted blocks.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Final practical model: CatBoost gives the best F1 and strongest AUC.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Clinical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Why this prediction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BPCR means birth preparedness and complication readiness.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Good BPCR can help women reach care faster during pregnancy or delivery problems.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The model can help identify women who may need more counselling or support.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The model supports health workers; it does not replace clinical judgment.</a:t>
            </a:r>
          </a:p>
        </p:txBody>
      </p:sp>
      <p:pic>
        <p:nvPicPr>
          <p:cNvPr id="5" name="Picture 4" descr="targe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029200" cy="319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Data and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One target definition used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The dataset has demographic, knowledge, attitude, information-source, and BPCR practice answers.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Eight BPCR practice items were converted to 0/1.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BPCR score = sum of these 8 items.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Good BPCR = score &gt;= 5.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Practice columns were removed from model inputs to avoid leakage.</a:t>
            </a:r>
          </a:p>
        </p:txBody>
      </p:sp>
      <p:pic>
        <p:nvPicPr>
          <p:cNvPr id="5" name="Picture 4" descr="fig_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143000"/>
            <a:ext cx="5669280" cy="2849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What was done before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Missing values were studied and visualized.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Mean, median, mode, KNN, iterative, and model-based imputation were compared.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Isolation Forest and robust Z-score were used for outlier checks.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Outliers were flagged, not deleted, because unusual patient profiles can be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Medical reasoning turned into model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Health literacy index: education + knowledge + BPCR awareness.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Attitude score: positive views can affect readiness behavior.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Knowledge counts: danger-sign awareness can improve preparedness.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Interaction features: education, knowledge, attitude, and BPCR components work together.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Autoencoder features summarize hidden tabular patterns.</a:t>
            </a:r>
          </a:p>
        </p:txBody>
      </p:sp>
      <p:pic>
        <p:nvPicPr>
          <p:cNvPr id="5" name="Picture 4" descr="fig_feature_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097280"/>
            <a:ext cx="5760720" cy="3356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Feature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Four methods, one consensus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Mutual Information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SHAP / XGBoost contribution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Recursive Feature Elimination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Stability selection across random seeds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Consensus features were used to keep the model smaller and more stable.</a:t>
            </a:r>
          </a:p>
        </p:txBody>
      </p:sp>
      <p:pic>
        <p:nvPicPr>
          <p:cNvPr id="5" name="Picture 4" descr="fig_feature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51560"/>
            <a:ext cx="5943600" cy="35812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Modern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Models required by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35607"/>
            <a:ext cx="168249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HGBC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Gradient boosting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32588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36392" y="1435607"/>
            <a:ext cx="168249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XGBoost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Strong tabular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32588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76672" y="1435607"/>
            <a:ext cx="168249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766E"/>
                </a:solidFill>
              </a:defRPr>
            </a:pPr>
            <a:r>
              <a:t>LightGBM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Fast boosting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32588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6952" y="1435607"/>
            <a:ext cx="168249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CatBoost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Best final 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132588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57232" y="1435607"/>
            <a:ext cx="168249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F4444"/>
                </a:solidFill>
              </a:defRPr>
            </a:pPr>
            <a:r>
              <a:t>MLP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Neural 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632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The notebook uses modern models, not only simple baselines.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CatBoost, XGBoost, LightGBM, HGBC, and MLP were evaluated with 5-fold cross-validation.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The novel idea is multi-seed/robust model checking and threshold analysis for clinical 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Mean scores over 5 folds</a:t>
            </a:r>
          </a:p>
        </p:txBody>
      </p:sp>
      <p:pic>
        <p:nvPicPr>
          <p:cNvPr id="4" name="Picture 3" descr="qualit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5852160" cy="34635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32588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Best F1: CatBoost = 0.894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Best AUC: CatBoost = 0.774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Neural Network has very high recall, but lower AUC.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CatBoost is the strongest overall final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Accuracy is not enough — speed justification and trade-off analysis</a:t>
            </a:r>
          </a:p>
        </p:txBody>
      </p:sp>
      <p:pic>
        <p:nvPicPr>
          <p:cNvPr id="4" name="Picture 3" descr="spee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88720"/>
            <a:ext cx="5669280" cy="313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4173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a5276"/>
                </a:solidFill>
              </a:defRPr>
            </a:pPr>
            <a:r>
              <a:rPr b="1" sz="1500"/>
              <a:t>Why is this model faster or slower?</a:t>
            </a:r>
          </a:p>
          <a:p>
            <a:pPr>
              <a:spcAft>
                <a:spcPts val="300"/>
              </a:spcAft>
              <a:defRPr sz="1400">
                <a:solidFill>
                  <a:srgbClr val="0F172A"/>
                </a:solidFill>
              </a:defRPr>
            </a:pPr>
            <a:r>
              <a:rPr b="1" sz="1400"/>
              <a:t xml:space="preserve">Algorithm complexity: </a:t>
            </a:r>
            <a:r>
              <a:rPr sz="1400"/>
              <a:t>LightGBM uses leaf-wise tree growth — fewer splits needed. XGBoost is level-wise, visiting all nodes. Neural networks use matrix multiplications over all layers on every sample.</a:t>
            </a:r>
          </a:p>
          <a:p>
            <a:pPr>
              <a:spcAft>
                <a:spcPts val="300"/>
              </a:spcAft>
              <a:defRPr sz="1400">
                <a:solidFill>
                  <a:srgbClr val="0F172A"/>
                </a:solidFill>
              </a:defRPr>
            </a:pPr>
            <a:r>
              <a:rPr b="1" sz="1400"/>
              <a:t xml:space="preserve">Number of features: </a:t>
            </a:r>
            <a:r>
              <a:rPr sz="1400"/>
              <a:t>More features increase split search time for tree models. Neural nets scale with input dimension per layer. Feature selection reduces cost for all models.</a:t>
            </a:r>
          </a:p>
          <a:p>
            <a:pPr>
              <a:spcAft>
                <a:spcPts val="300"/>
              </a:spcAft>
              <a:defRPr sz="1400">
                <a:solidFill>
                  <a:srgbClr val="0F172A"/>
                </a:solidFill>
              </a:defRPr>
            </a:pPr>
            <a:r>
              <a:rPr b="1" sz="1400"/>
              <a:t xml:space="preserve">Data size: </a:t>
            </a:r>
            <a:r>
              <a:rPr sz="1400"/>
              <a:t>With only 411 rows, all models are fast. At larger scale, LightGBM and CatBoost retain their speed advantage over XGBoost and MLP.</a:t>
            </a:r>
          </a:p>
          <a:p>
            <a:pPr>
              <a:spcAft>
                <a:spcPts val="300"/>
              </a:spcAft>
              <a:defRPr sz="1400">
                <a:solidFill>
                  <a:srgbClr val="0F172A"/>
                </a:solidFill>
              </a:defRPr>
            </a:pPr>
            <a:r>
              <a:rPr b="1" sz="1400"/>
              <a:t xml:space="preserve">Architecture: </a:t>
            </a:r>
            <a:r>
              <a:rPr sz="1400"/>
              <a:t>MLP (0.03s) is fast because it is shallow and small. Multi-seed ensemble (3.03s) is slowest — it trains 3 models x 3 seeds = 9 model fits total.</a:t>
            </a:r>
          </a:p>
          <a:p>
            <a:pPr>
              <a:spcAft>
                <a:spcPts val="300"/>
              </a:spcAft>
              <a:defRPr sz="1400">
                <a:solidFill>
                  <a:srgbClr val="1a5276"/>
                </a:solidFill>
              </a:defRPr>
            </a:pPr>
            <a:r>
              <a:rPr b="1" sz="1400"/>
              <a:t xml:space="preserve">Pareto winner: </a:t>
            </a:r>
            <a:r>
              <a:rPr sz="1400"/>
              <a:t>LightGBM — same F1 as XGBoost, 2-3x faster. Best for clinical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Clinical Subgroups and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Checking who has better or worse BPCR rates</a:t>
            </a:r>
          </a:p>
        </p:txBody>
      </p:sp>
      <p:pic>
        <p:nvPicPr>
          <p:cNvPr id="4" name="Picture 3" descr="fig_kap_clinical_subgroup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1064240" cy="5823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Final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ROC, Precision-Recall, Confusion Matrix</a:t>
            </a:r>
          </a:p>
        </p:txBody>
      </p:sp>
      <p:pic>
        <p:nvPicPr>
          <p:cNvPr id="4" name="Picture 3" descr="fig_kap_roc_pr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0972800" cy="30613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What kind of mistakes happen? Patient profiles for false positives and false negatives.</a:t>
            </a:r>
          </a:p>
        </p:txBody>
      </p:sp>
      <p:pic>
        <p:nvPicPr>
          <p:cNvPr id="4" name="Picture 3" descr="fig_kap_error_profile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10789920" cy="63764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Final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What we would use in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3063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435607"/>
            <a:ext cx="27340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CatBoost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Best F1 and AUC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25880"/>
            <a:ext cx="3063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36592" y="1435607"/>
            <a:ext cx="27340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Sigmoid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Best calibration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25880"/>
            <a:ext cx="3063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435607"/>
            <a:ext cx="27340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Threshold tuning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Better clinical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Use CatBoost as the final model for the report.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Use calibrated probabilities when presenting risk-like scores.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Discuss false positives and false negatives, not only accuracy.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State clearly that the model supports decision-making and needs real clinical 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Clean final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F172A"/>
                </a:solidFill>
              </a:defRPr>
            </a:pPr>
            <a:r>
              <a:t>One dataset loading step.</a:t>
            </a:r>
          </a:p>
          <a:p>
            <a:pPr>
              <a:spcAft>
                <a:spcPts val="800"/>
              </a:spcAft>
              <a:defRPr sz="2200">
                <a:solidFill>
                  <a:srgbClr val="0F172A"/>
                </a:solidFill>
              </a:defRPr>
            </a:pPr>
            <a:r>
              <a:t>One target definition: BPCR score &gt;= 5.</a:t>
            </a:r>
          </a:p>
          <a:p>
            <a:pPr>
              <a:spcAft>
                <a:spcPts val="800"/>
              </a:spcAft>
              <a:defRPr sz="2200">
                <a:solidFill>
                  <a:srgbClr val="0F172A"/>
                </a:solidFill>
              </a:defRPr>
            </a:pPr>
            <a:r>
              <a:t>Advanced cleaning, feature engineering, feature selection, modern models, explainability, error analysis, and efficiency are all included.</a:t>
            </a:r>
          </a:p>
          <a:p>
            <a:pPr>
              <a:spcAft>
                <a:spcPts val="800"/>
              </a:spcAft>
              <a:defRPr sz="2200">
                <a:solidFill>
                  <a:srgbClr val="0F172A"/>
                </a:solidFill>
              </a:defRPr>
            </a:pPr>
            <a:r>
              <a:t>The final notebook is cleaner than the combined version and no longer looks like two pasted notebooks.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Error Analysis - Patient Profiles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What type of patients are misclassified?</a:t>
            </a:r>
          </a:p>
        </p:txBody>
      </p:sp>
      <p:sp>
        <p:nvSpPr>
          <p:cNvPr id="4" name="FN"/>
          <p:cNvSpPr txBox="1"/>
          <p:nvPr/>
        </p:nvSpPr>
        <p:spPr>
          <a:xfrm>
            <a:off x="502920" y="1200000"/>
            <a:ext cx="5560000" cy="4600000"/>
          </a:xfrm>
          <a:prstGeom prst="rect">
            <a:avLst/>
          </a:prstGeom>
          <a:solidFill>
            <a:srgbClr val="FDEDEC"/>
          </a:solidFill>
        </p:spPr>
        <p:txBody>
          <a:bodyPr wrap="square" lIns="220000" rIns="220000" tIns="220000" bIns="220000">
            <a:spAutoFit/>
          </a:bodyPr>
          <a:lstStyle/>
          <a:p>
            <a:pPr>
              <a:spcAft>
                <a:spcPts val="400"/>
              </a:spcAft>
            </a:pPr>
            <a:r>
              <a:rPr b="1" sz="1800">
                <a:solidFill>
                  <a:srgbClr val="C0392B"/>
                </a:solidFill>
              </a:rPr>
              <a:t>False Negatives (Critical)</a:t>
            </a:r>
          </a:p>
          <a:p>
            <a:pPr>
              <a:spcAft>
                <a:spcPts val="300"/>
              </a:spcAft>
            </a:pPr>
            <a:r>
              <a:rPr b="1" sz="1400">
                <a:solidFill>
                  <a:srgbClr val="0F172A"/>
                </a:solidFill>
              </a:rPr>
              <a:t>Predicted: Good BPCR | Actual: Poor BPCR</a:t>
            </a:r>
          </a:p>
          <a:p>
            <a:pPr>
              <a:spcAft>
                <a:spcPts val="300"/>
              </a:spcAft>
            </a:pPr>
            <a:r>
              <a:rPr b="1" sz="1400">
                <a:solidFill>
                  <a:srgbClr val="C0392B"/>
                </a:solidFill>
              </a:rPr>
              <a:t xml:space="preserve">Why critical: </a:t>
            </a:r>
            <a:r>
              <a:rPr sz="1400">
                <a:solidFill>
                  <a:srgbClr val="0F172A"/>
                </a:solidFill>
              </a:rPr>
              <a:t>Woman misses intervention. Complication risk increases.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F172A"/>
                </a:solidFill>
              </a:rPr>
              <a:t>Patient profile:</a:t>
            </a:r>
          </a:p>
          <a:p>
            <a:pPr marL="228600">
              <a:spcAft>
                <a:spcPts val="150"/>
              </a:spcAft>
            </a:pPr>
            <a:r>
              <a:rPr sz="1400">
                <a:solidFill>
                  <a:srgbClr val="0F172A"/>
                </a:solidFill>
              </a:rPr>
              <a:t>- High education, very low income</a:t>
            </a:r>
          </a:p>
          <a:p>
            <a:pPr marL="228600">
              <a:spcAft>
                <a:spcPts val="150"/>
              </a:spcAft>
            </a:pPr>
            <a:r>
              <a:rPr sz="1400">
                <a:solidFill>
                  <a:srgbClr val="0F172A"/>
                </a:solidFill>
              </a:rPr>
              <a:t>- Good knowledge, but very young age</a:t>
            </a:r>
          </a:p>
          <a:p>
            <a:pPr marL="228600">
              <a:spcAft>
                <a:spcPts val="150"/>
              </a:spcAft>
            </a:pPr>
            <a:r>
              <a:rPr sz="1400">
                <a:solidFill>
                  <a:srgbClr val="0F172A"/>
                </a:solidFill>
              </a:rPr>
              <a:t>- Contradictory signals confuse model</a:t>
            </a:r>
          </a:p>
          <a:p>
            <a:pPr marL="228600">
              <a:spcAft>
                <a:spcPts val="150"/>
              </a:spcAft>
            </a:pPr>
            <a:r>
              <a:rPr sz="1400">
                <a:solidFill>
                  <a:srgbClr val="0F172A"/>
                </a:solidFill>
              </a:rPr>
              <a:t>- Require mandatory manual clinical review</a:t>
            </a:r>
          </a:p>
        </p:txBody>
      </p:sp>
      <p:sp>
        <p:nvSpPr>
          <p:cNvPr id="5" name="FP"/>
          <p:cNvSpPr txBox="1"/>
          <p:nvPr/>
        </p:nvSpPr>
        <p:spPr>
          <a:xfrm>
            <a:off x="6330000" y="1200000"/>
            <a:ext cx="5560000" cy="4600000"/>
          </a:xfrm>
          <a:prstGeom prst="rect">
            <a:avLst/>
          </a:prstGeom>
          <a:solidFill>
            <a:srgbClr val="EBF5FB"/>
          </a:solidFill>
        </p:spPr>
        <p:txBody>
          <a:bodyPr wrap="square" lIns="220000" rIns="220000" tIns="220000" bIns="220000">
            <a:spAutoFit/>
          </a:bodyPr>
          <a:lstStyle/>
          <a:p>
            <a:pPr>
              <a:spcAft>
                <a:spcPts val="400"/>
              </a:spcAft>
            </a:pPr>
            <a:r>
              <a:rPr b="1" sz="1800">
                <a:solidFill>
                  <a:srgbClr val="1a5276"/>
                </a:solidFill>
              </a:rPr>
              <a:t>False Positives</a:t>
            </a:r>
          </a:p>
          <a:p>
            <a:pPr>
              <a:spcAft>
                <a:spcPts val="300"/>
              </a:spcAft>
            </a:pPr>
            <a:r>
              <a:rPr b="1" sz="1400">
                <a:solidFill>
                  <a:srgbClr val="0F172A"/>
                </a:solidFill>
              </a:rPr>
              <a:t>Predicted: Poor BPCR | Actual: Good BPCR</a:t>
            </a:r>
          </a:p>
          <a:p>
            <a:pPr>
              <a:spcAft>
                <a:spcPts val="300"/>
              </a:spcAft>
            </a:pPr>
            <a:r>
              <a:rPr b="1" sz="1400">
                <a:solidFill>
                  <a:srgbClr val="1a5276"/>
                </a:solidFill>
              </a:rPr>
              <a:t xml:space="preserve">Impact: </a:t>
            </a:r>
            <a:r>
              <a:rPr sz="1400">
                <a:solidFill>
                  <a:srgbClr val="0F172A"/>
                </a:solidFill>
              </a:rPr>
              <a:t>Woman gets extra counseling. Not harmful, but uses resources.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F172A"/>
                </a:solidFill>
              </a:rPr>
              <a:t>Patient profile:</a:t>
            </a:r>
          </a:p>
          <a:p>
            <a:pPr marL="228600">
              <a:spcAft>
                <a:spcPts val="150"/>
              </a:spcAft>
            </a:pPr>
            <a:r>
              <a:rPr sz="1400">
                <a:solidFill>
                  <a:srgbClr val="0F172A"/>
                </a:solidFill>
              </a:rPr>
              <a:t>- High knowledge_score (knows BPCR theory)</a:t>
            </a:r>
          </a:p>
          <a:p>
            <a:pPr marL="228600">
              <a:spcAft>
                <a:spcPts val="150"/>
              </a:spcAft>
            </a:pPr>
            <a:r>
              <a:rPr sz="1400">
                <a:solidFill>
                  <a:srgbClr val="0F172A"/>
                </a:solidFill>
              </a:rPr>
              <a:t>- Low income: no transport or savings money</a:t>
            </a:r>
          </a:p>
          <a:p>
            <a:pPr marL="228600">
              <a:spcAft>
                <a:spcPts val="150"/>
              </a:spcAft>
            </a:pPr>
            <a:r>
              <a:rPr sz="1400">
                <a:solidFill>
                  <a:srgbClr val="0F172A"/>
                </a:solidFill>
              </a:rPr>
              <a:t>- Knowledge does NOT equal Practice</a:t>
            </a:r>
          </a:p>
          <a:p>
            <a:pPr marL="228600">
              <a:spcAft>
                <a:spcPts val="150"/>
              </a:spcAft>
            </a:pPr>
            <a:r>
              <a:rPr sz="1400">
                <a:solidFill>
                  <a:srgbClr val="0F172A"/>
                </a:solidFill>
              </a:rPr>
              <a:t>- Resource barriers must be addressed</a:t>
            </a:r>
          </a:p>
        </p:txBody>
      </p:sp>
      <p:sp>
        <p:nvSpPr>
          <p:cNvPr id="6" name="Conclusion"/>
          <p:cNvSpPr txBox="1"/>
          <p:nvPr/>
        </p:nvSpPr>
        <p:spPr>
          <a:xfrm>
            <a:off x="502920" y="5950000"/>
            <a:ext cx="11385000" cy="560000"/>
          </a:xfrm>
          <a:prstGeom prst="rect">
            <a:avLst/>
          </a:prstGeom>
          <a:solidFill>
            <a:srgbClr val="1a5276"/>
          </a:solidFill>
        </p:spPr>
        <p:txBody>
          <a:bodyPr wrap="square" lIns="220000" rIns="220000" tIns="140000" bIns="14000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 xml:space="preserve">Clinical conclusion: </a:t>
            </a:r>
            <a:r>
              <a:rPr sz="1400">
                <a:solidFill>
                  <a:srgbClr val="FFFFFF"/>
                </a:solidFill>
              </a:rPr>
              <a:t>Knowledge does not equal practice. Telling a woman about BPCR is not enough. Healthcare systems must address resource barriers: transport, savings, and blood donor access.</a:t>
            </a:r>
          </a:p>
        </p:txBody>
      </p:sp>
      <p:sp>
        <p:nvSpPr>
          <p:cNvPr id="7" name="Num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502920" y="380000"/>
            <a:ext cx="4000000" cy="320000"/>
          </a:xfrm>
          <a:prstGeom prst="rect">
            <a:avLst/>
          </a:prstGeom>
          <a:solidFill>
            <a:srgbClr val="1a5276"/>
          </a:solidFill>
        </p:spPr>
        <p:txBody>
          <a:bodyPr wrap="none" lIns="150000" tIns="80000">
            <a:spAutoFit/>
          </a:bodyPr>
          <a:lstStyle/>
          <a:p>
            <a:r>
              <a:rPr b="1" sz="1100" lang="en-US">
                <a:solidFill>
                  <a:srgbClr val="FFFFFF"/>
                </a:solidFill>
              </a:rPr>
              <a:t>PART 1 —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820000"/>
            <a:ext cx="111556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 lang="en-US">
                <a:solidFill>
                  <a:srgbClr val="FFFFFF"/>
                </a:solidFill>
              </a:rPr>
              <a:t>What is BPCR and why</a:t>
            </a:r>
          </a:p>
          <a:p>
            <a:r>
              <a:rPr b="1" sz="4000" lang="en-US">
                <a:solidFill>
                  <a:srgbClr val="02C39A"/>
                </a:solidFill>
              </a:rPr>
              <a:t>does it save lives?</a:t>
            </a:r>
          </a:p>
        </p:txBody>
      </p:sp>
      <p:sp>
        <p:nvSpPr>
          <p:cNvPr id="4" name="Step1"/>
          <p:cNvSpPr txBox="1"/>
          <p:nvPr/>
        </p:nvSpPr>
        <p:spPr>
          <a:xfrm>
            <a:off x="502920" y="2100000"/>
            <a:ext cx="2580000" cy="1800000"/>
          </a:xfrm>
          <a:prstGeom prst="rect">
            <a:avLst/>
          </a:prstGeom>
          <a:solidFill>
            <a:srgbClr val="1C2C4A"/>
          </a:solidFill>
        </p:spPr>
        <p:txBody>
          <a:bodyPr wrap="square" lIns="180000" rIns="180000" tIns="180000" bIns="180000">
            <a:spAutoFit/>
          </a:bodyPr>
          <a:lstStyle/>
          <a:p>
            <a:pPr>
              <a:spcAft>
                <a:spcPts val="200"/>
              </a:spcAft>
            </a:pPr>
            <a:r>
              <a:rPr b="1" sz="2200" lang="en-US">
                <a:solidFill>
                  <a:srgbClr val="02C39A"/>
                </a:solidFill>
              </a:rPr>
              <a:t>1</a:t>
            </a:r>
          </a:p>
          <a:p>
            <a:pPr>
              <a:spcAft>
                <a:spcPts val="200"/>
              </a:spcAft>
            </a:pPr>
            <a:r>
              <a:rPr b="1" sz="1400" lang="en-US">
                <a:solidFill>
                  <a:srgbClr val="FFFFFF"/>
                </a:solidFill>
              </a:rPr>
              <a:t>Choose a birth location</a:t>
            </a:r>
          </a:p>
          <a:p>
            <a:r>
              <a:rPr sz="1200" lang="en-US">
                <a:solidFill>
                  <a:srgbClr val="94A3B8"/>
                </a:solidFill>
              </a:rPr>
              <a:t>Decide in advance where delivery will happen</a:t>
            </a:r>
          </a:p>
        </p:txBody>
      </p:sp>
      <p:sp>
        <p:nvSpPr>
          <p:cNvPr id="5" name="Step2"/>
          <p:cNvSpPr txBox="1"/>
          <p:nvPr/>
        </p:nvSpPr>
        <p:spPr>
          <a:xfrm>
            <a:off x="3220000" y="2100000"/>
            <a:ext cx="2580000" cy="1800000"/>
          </a:xfrm>
          <a:prstGeom prst="rect">
            <a:avLst/>
          </a:prstGeom>
          <a:solidFill>
            <a:srgbClr val="1C2C4A"/>
          </a:solidFill>
        </p:spPr>
        <p:txBody>
          <a:bodyPr wrap="square" lIns="180000" rIns="180000" tIns="180000" bIns="180000">
            <a:spAutoFit/>
          </a:bodyPr>
          <a:lstStyle/>
          <a:p>
            <a:pPr>
              <a:spcAft>
                <a:spcPts val="200"/>
              </a:spcAft>
            </a:pPr>
            <a:r>
              <a:rPr b="1" sz="2200" lang="en-US">
                <a:solidFill>
                  <a:srgbClr val="02C39A"/>
                </a:solidFill>
              </a:rPr>
              <a:t>2</a:t>
            </a:r>
          </a:p>
          <a:p>
            <a:pPr>
              <a:spcAft>
                <a:spcPts val="200"/>
              </a:spcAft>
            </a:pPr>
            <a:r>
              <a:rPr b="1" sz="1400" lang="en-US">
                <a:solidFill>
                  <a:srgbClr val="FFFFFF"/>
                </a:solidFill>
              </a:rPr>
              <a:t>Save money</a:t>
            </a:r>
          </a:p>
          <a:p>
            <a:r>
              <a:rPr sz="1200" lang="en-US">
                <a:solidFill>
                  <a:srgbClr val="94A3B8"/>
                </a:solidFill>
              </a:rPr>
              <a:t>Set aside funds for delivery costs and emergencies</a:t>
            </a:r>
          </a:p>
        </p:txBody>
      </p:sp>
      <p:sp>
        <p:nvSpPr>
          <p:cNvPr id="6" name="Step3"/>
          <p:cNvSpPr txBox="1"/>
          <p:nvPr/>
        </p:nvSpPr>
        <p:spPr>
          <a:xfrm>
            <a:off x="5940000" y="2100000"/>
            <a:ext cx="2580000" cy="1800000"/>
          </a:xfrm>
          <a:prstGeom prst="rect">
            <a:avLst/>
          </a:prstGeom>
          <a:solidFill>
            <a:srgbClr val="1C2C4A"/>
          </a:solidFill>
        </p:spPr>
        <p:txBody>
          <a:bodyPr wrap="square" lIns="180000" rIns="180000" tIns="180000" bIns="180000">
            <a:spAutoFit/>
          </a:bodyPr>
          <a:lstStyle/>
          <a:p>
            <a:pPr>
              <a:spcAft>
                <a:spcPts val="200"/>
              </a:spcAft>
            </a:pPr>
            <a:r>
              <a:rPr b="1" sz="2200" lang="en-US">
                <a:solidFill>
                  <a:srgbClr val="02C39A"/>
                </a:solidFill>
              </a:rPr>
              <a:t>3</a:t>
            </a:r>
          </a:p>
          <a:p>
            <a:pPr>
              <a:spcAft>
                <a:spcPts val="200"/>
              </a:spcAft>
            </a:pPr>
            <a:r>
              <a:rPr b="1" sz="1400" lang="en-US">
                <a:solidFill>
                  <a:srgbClr val="FFFFFF"/>
                </a:solidFill>
              </a:rPr>
              <a:t>Arrange transport</a:t>
            </a:r>
          </a:p>
          <a:p>
            <a:r>
              <a:rPr sz="1200" lang="en-US">
                <a:solidFill>
                  <a:srgbClr val="94A3B8"/>
                </a:solidFill>
              </a:rPr>
              <a:t>Plan how to reach the health facility fast</a:t>
            </a:r>
          </a:p>
        </p:txBody>
      </p:sp>
      <p:sp>
        <p:nvSpPr>
          <p:cNvPr id="7" name="Step4"/>
          <p:cNvSpPr txBox="1"/>
          <p:nvPr/>
        </p:nvSpPr>
        <p:spPr>
          <a:xfrm>
            <a:off x="8660000" y="2100000"/>
            <a:ext cx="2580000" cy="1800000"/>
          </a:xfrm>
          <a:prstGeom prst="rect">
            <a:avLst/>
          </a:prstGeom>
          <a:solidFill>
            <a:srgbClr val="1C2C4A"/>
          </a:solidFill>
        </p:spPr>
        <p:txBody>
          <a:bodyPr wrap="square" lIns="180000" rIns="180000" tIns="180000" bIns="180000">
            <a:spAutoFit/>
          </a:bodyPr>
          <a:lstStyle/>
          <a:p>
            <a:pPr>
              <a:spcAft>
                <a:spcPts val="200"/>
              </a:spcAft>
            </a:pPr>
            <a:r>
              <a:rPr b="1" sz="2200" lang="en-US">
                <a:solidFill>
                  <a:srgbClr val="02C39A"/>
                </a:solidFill>
              </a:rPr>
              <a:t>4</a:t>
            </a:r>
          </a:p>
          <a:p>
            <a:pPr>
              <a:spcAft>
                <a:spcPts val="200"/>
              </a:spcAft>
            </a:pPr>
            <a:r>
              <a:rPr b="1" sz="1400" lang="en-US">
                <a:solidFill>
                  <a:srgbClr val="FFFFFF"/>
                </a:solidFill>
              </a:rPr>
              <a:t>Find a blood donor</a:t>
            </a:r>
          </a:p>
          <a:p>
            <a:r>
              <a:rPr sz="1200" lang="en-US">
                <a:solidFill>
                  <a:srgbClr val="94A3B8"/>
                </a:solidFill>
              </a:rPr>
              <a:t>Identify someone ready to donate if needed</a:t>
            </a:r>
          </a:p>
        </p:txBody>
      </p:sp>
      <p:sp>
        <p:nvSpPr>
          <p:cNvPr id="8" name="Stat"/>
          <p:cNvSpPr txBox="1"/>
          <p:nvPr/>
        </p:nvSpPr>
        <p:spPr>
          <a:xfrm>
            <a:off x="502920" y="4150000"/>
            <a:ext cx="11155680" cy="600000"/>
          </a:xfrm>
          <a:prstGeom prst="rect">
            <a:avLst/>
          </a:prstGeom>
          <a:solidFill>
            <a:srgbClr val="02C39A"/>
          </a:solidFill>
        </p:spPr>
        <p:txBody>
          <a:bodyPr wrap="square" lIns="220000" rIns="220000" tIns="150000" bIns="150000">
            <a:spAutoFit/>
          </a:bodyPr>
          <a:lstStyle/>
          <a:p>
            <a:r>
              <a:rPr b="1" sz="1800" lang="en-US">
                <a:solidFill>
                  <a:srgbClr val="0F172A"/>
                </a:solidFill>
              </a:rPr>
              <a:t xml:space="preserve">Women who complete all 4 steps are </a:t>
            </a:r>
            <a:r>
              <a:rPr b="1" sz="2200" lang="en-US">
                <a:solidFill>
                  <a:srgbClr val="0F172A"/>
                </a:solidFill>
              </a:rPr>
              <a:t xml:space="preserve">3x more likely </a:t>
            </a:r>
            <a:r>
              <a:rPr b="1" sz="1800" lang="en-US">
                <a:solidFill>
                  <a:srgbClr val="0F172A"/>
                </a:solidFill>
              </a:rPr>
              <a:t>to receive timely obstetric care.</a:t>
            </a:r>
          </a:p>
        </p:txBody>
      </p:sp>
      <p:sp>
        <p:nvSpPr>
          <p:cNvPr id="9" name="Num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Why This Project Matters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The real-world problem this ML model is solving</a:t>
            </a:r>
          </a:p>
        </p:txBody>
      </p:sp>
      <p:sp>
        <p:nvSpPr>
          <p:cNvPr id="4" name="BigStat"/>
          <p:cNvSpPr txBox="1"/>
          <p:nvPr/>
        </p:nvSpPr>
        <p:spPr>
          <a:xfrm>
            <a:off x="502920" y="1200000"/>
            <a:ext cx="4000000" cy="2400000"/>
          </a:xfrm>
          <a:prstGeom prst="rect">
            <a:avLst/>
          </a:prstGeom>
          <a:solidFill>
            <a:srgbClr val="0F172A"/>
          </a:solidFill>
        </p:spPr>
        <p:txBody>
          <a:bodyPr wrap="square" lIns="250000" rIns="250000" tIns="300000" bIns="200000">
            <a:spAutoFit/>
          </a:bodyPr>
          <a:lstStyle/>
          <a:p>
            <a:pPr>
              <a:spcAft>
                <a:spcPts val="200"/>
              </a:spcAft>
            </a:pPr>
            <a:r>
              <a:rPr b="1" sz="5500" lang="en-US">
                <a:solidFill>
                  <a:srgbClr val="02C39A"/>
                </a:solidFill>
              </a:rPr>
              <a:t>401</a:t>
            </a:r>
          </a:p>
          <a:p>
            <a:pPr>
              <a:spcAft>
                <a:spcPts val="200"/>
              </a:spcAft>
            </a:pPr>
            <a:r>
              <a:rPr sz="1400" lang="en-US">
                <a:solidFill>
                  <a:srgbClr val="FFFFFF"/>
                </a:solidFill>
              </a:rPr>
              <a:t>maternal deaths per 100,000 live births in Ethiopia</a:t>
            </a:r>
          </a:p>
          <a:p>
            <a:r>
              <a:rPr sz="1100" lang="en-US">
                <a:solidFill>
                  <a:srgbClr val="94A3B8"/>
                </a:solidFill>
              </a:rPr>
              <a:t>EDHS 2019 — one of the highest rates in the world</a:t>
            </a:r>
          </a:p>
        </p:txBody>
      </p:sp>
      <p:sp>
        <p:nvSpPr>
          <p:cNvPr id="5" name="RightText"/>
          <p:cNvSpPr txBox="1"/>
          <p:nvPr/>
        </p:nvSpPr>
        <p:spPr>
          <a:xfrm>
            <a:off x="4800000" y="1200000"/>
            <a:ext cx="6800000" cy="4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600" lang="en-US">
                <a:solidFill>
                  <a:srgbClr val="1a5276"/>
                </a:solidFill>
              </a:rPr>
              <a:t>The clinical problem</a:t>
            </a:r>
          </a:p>
          <a:p>
            <a:pPr>
              <a:spcAft>
                <a:spcPts val="400"/>
              </a:spcAft>
            </a:pPr>
            <a:r>
              <a:rPr sz="1500" lang="en-US">
                <a:solidFill>
                  <a:srgbClr val="0F172A"/>
                </a:solidFill>
              </a:rPr>
              <a:t>Many deaths happen because women do not prepare for birth complications in advance. They arrive at hospitals too late or without resources.</a:t>
            </a:r>
          </a:p>
          <a:p>
            <a:pPr>
              <a:spcAft>
                <a:spcPts val="500"/>
              </a:spcAft>
            </a:pPr>
            <a:r>
              <a:rPr b="1" sz="1600" lang="en-US">
                <a:solidFill>
                  <a:srgbClr val="1a5276"/>
                </a:solidFill>
              </a:rPr>
              <a:t>What the ML model does</a:t>
            </a:r>
          </a:p>
          <a:p>
            <a:pPr>
              <a:spcAft>
                <a:spcPts val="400"/>
              </a:spcAft>
            </a:pPr>
            <a:r>
              <a:rPr sz="1500" lang="en-US">
                <a:solidFill>
                  <a:srgbClr val="0F172A"/>
                </a:solidFill>
              </a:rPr>
              <a:t>Predict — from a simple survey — which women have poor BPCR, so health workers can target counseling early. This is a predictive task with direct clinical impact.</a:t>
            </a:r>
          </a:p>
          <a:p>
            <a:pPr>
              <a:spcAft>
                <a:spcPts val="400"/>
              </a:spcAft>
            </a:pPr>
            <a:r>
              <a:rPr b="1" sz="1500" lang="en-US">
                <a:solidFill>
                  <a:srgbClr val="C0392B"/>
                </a:solidFill>
              </a:rPr>
              <a:t xml:space="preserve">Important: </a:t>
            </a:r>
            <a:r>
              <a:rPr sz="1500" lang="en-US">
                <a:solidFill>
                  <a:srgbClr val="0F172A"/>
                </a:solidFill>
              </a:rPr>
              <a:t>The model supports health workers — it does not replace clinical judgment.</a:t>
            </a:r>
          </a:p>
        </p:txBody>
      </p:sp>
      <p:sp>
        <p:nvSpPr>
          <p:cNvPr id="6" name="Num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The Dataset — What We Work With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KAP-BPCR survey data — 411 pregnant women in Ethiopia</a:t>
            </a:r>
          </a:p>
        </p:txBody>
      </p:sp>
      <p:sp>
        <p:nvSpPr>
          <p:cNvPr id="4" name="Stat1"/>
          <p:cNvSpPr txBox="1"/>
          <p:nvPr/>
        </p:nvSpPr>
        <p:spPr>
          <a:xfrm>
            <a:off x="502920" y="1200000"/>
            <a:ext cx="3400000" cy="1400000"/>
          </a:xfrm>
          <a:prstGeom prst="rect">
            <a:avLst/>
          </a:prstGeom>
          <a:solidFill>
            <a:srgbClr val="EAF4FB"/>
          </a:solidFill>
        </p:spPr>
        <p:txBody>
          <a:bodyPr wrap="square" lIns="200000" rIns="200000" tIns="200000" bIns="200000">
            <a:spAutoFit/>
          </a:bodyPr>
          <a:lstStyle/>
          <a:p>
            <a:pPr>
              <a:spcAft>
                <a:spcPts val="100"/>
              </a:spcAft>
            </a:pPr>
            <a:r>
              <a:rPr b="1" sz="3600" lang="en-US">
                <a:solidFill>
                  <a:srgbClr val="1a5276"/>
                </a:solidFill>
              </a:rPr>
              <a:t>411</a:t>
            </a:r>
          </a:p>
          <a:p>
            <a:r>
              <a:rPr sz="1400" lang="en-US">
                <a:solidFill>
                  <a:srgbClr val="0F172A"/>
                </a:solidFill>
              </a:rPr>
              <a:t>Survey respondents (pregnant women)</a:t>
            </a:r>
          </a:p>
        </p:txBody>
      </p:sp>
      <p:sp>
        <p:nvSpPr>
          <p:cNvPr id="5" name="Stat2"/>
          <p:cNvSpPr txBox="1"/>
          <p:nvPr/>
        </p:nvSpPr>
        <p:spPr>
          <a:xfrm>
            <a:off x="4130000" y="1200000"/>
            <a:ext cx="3400000" cy="1400000"/>
          </a:xfrm>
          <a:prstGeom prst="rect">
            <a:avLst/>
          </a:prstGeom>
          <a:solidFill>
            <a:srgbClr val="EAF4FB"/>
          </a:solidFill>
        </p:spPr>
        <p:txBody>
          <a:bodyPr wrap="square" lIns="200000" rIns="200000" tIns="200000" bIns="200000">
            <a:spAutoFit/>
          </a:bodyPr>
          <a:lstStyle/>
          <a:p>
            <a:pPr>
              <a:spcAft>
                <a:spcPts val="100"/>
              </a:spcAft>
            </a:pPr>
            <a:r>
              <a:rPr b="1" sz="3600" lang="en-US">
                <a:solidFill>
                  <a:srgbClr val="1a5276"/>
                </a:solidFill>
              </a:rPr>
              <a:t>73</a:t>
            </a:r>
          </a:p>
          <a:p>
            <a:r>
              <a:rPr sz="1400" lang="en-US">
                <a:solidFill>
                  <a:srgbClr val="0F172A"/>
                </a:solidFill>
              </a:rPr>
              <a:t>Original features (columns)</a:t>
            </a:r>
          </a:p>
        </p:txBody>
      </p:sp>
      <p:sp>
        <p:nvSpPr>
          <p:cNvPr id="6" name="Stat3"/>
          <p:cNvSpPr txBox="1"/>
          <p:nvPr/>
        </p:nvSpPr>
        <p:spPr>
          <a:xfrm>
            <a:off x="7760000" y="1200000"/>
            <a:ext cx="3400000" cy="1400000"/>
          </a:xfrm>
          <a:prstGeom prst="rect">
            <a:avLst/>
          </a:prstGeom>
          <a:solidFill>
            <a:srgbClr val="EAF4FB"/>
          </a:solidFill>
        </p:spPr>
        <p:txBody>
          <a:bodyPr wrap="square" lIns="200000" rIns="200000" tIns="200000" bIns="200000">
            <a:spAutoFit/>
          </a:bodyPr>
          <a:lstStyle/>
          <a:p>
            <a:pPr>
              <a:spcAft>
                <a:spcPts val="100"/>
              </a:spcAft>
            </a:pPr>
            <a:r>
              <a:rPr b="1" sz="3600" lang="en-US">
                <a:solidFill>
                  <a:srgbClr val="1a5276"/>
                </a:solidFill>
              </a:rPr>
              <a:t>80.8%</a:t>
            </a:r>
          </a:p>
          <a:p>
            <a:r>
              <a:rPr sz="1400" lang="en-US">
                <a:solidFill>
                  <a:srgbClr val="0F172A"/>
                </a:solidFill>
              </a:rPr>
              <a:t>Have good BPCR (class imbalance)</a:t>
            </a:r>
          </a:p>
        </p:txBody>
      </p:sp>
      <p:sp>
        <p:nvSpPr>
          <p:cNvPr id="7" name="Groups"/>
          <p:cNvSpPr txBox="1"/>
          <p:nvPr/>
        </p:nvSpPr>
        <p:spPr>
          <a:xfrm>
            <a:off x="502920" y="2800000"/>
            <a:ext cx="5500000" cy="3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500" lang="en-US">
                <a:solidFill>
                  <a:srgbClr val="1a5276"/>
                </a:solidFill>
              </a:rPr>
              <a:t>5 feature groups in the survey:</a:t>
            </a:r>
          </a:p>
          <a:p>
            <a:pPr marL="200000">
              <a:spcAft>
                <a:spcPts val="200"/>
              </a:spcAft>
            </a:pPr>
            <a:r>
              <a:rPr b="1" sz="1400" lang="en-US">
                <a:solidFill>
                  <a:srgbClr val="0F172A"/>
                </a:solidFill>
              </a:rPr>
              <a:t xml:space="preserve">Demographics: </a:t>
            </a:r>
            <a:r>
              <a:rPr sz="1400" lang="en-US">
                <a:solidFill>
                  <a:srgbClr val="0F172A"/>
                </a:solidFill>
              </a:rPr>
              <a:t>age, education, income, family size</a:t>
            </a:r>
          </a:p>
          <a:p>
            <a:pPr marL="200000">
              <a:spcAft>
                <a:spcPts val="200"/>
              </a:spcAft>
            </a:pPr>
            <a:r>
              <a:rPr b="1" sz="1400" lang="en-US">
                <a:solidFill>
                  <a:srgbClr val="0F172A"/>
                </a:solidFill>
              </a:rPr>
              <a:t xml:space="preserve">Knowledge: </a:t>
            </a:r>
            <a:r>
              <a:rPr sz="1400" lang="en-US">
                <a:solidFill>
                  <a:srgbClr val="0F172A"/>
                </a:solidFill>
              </a:rPr>
              <a:t>awareness of BPCR, info sources</a:t>
            </a:r>
          </a:p>
          <a:p>
            <a:pPr marL="200000">
              <a:spcAft>
                <a:spcPts val="200"/>
              </a:spcAft>
            </a:pPr>
            <a:r>
              <a:rPr b="1" sz="1400" lang="en-US">
                <a:solidFill>
                  <a:srgbClr val="0F172A"/>
                </a:solidFill>
              </a:rPr>
              <a:t xml:space="preserve">Component knowledge: </a:t>
            </a:r>
            <a:r>
              <a:rPr sz="1400" lang="en-US">
                <a:solidFill>
                  <a:srgbClr val="0F172A"/>
                </a:solidFill>
              </a:rPr>
              <a:t>danger-sign awareness</a:t>
            </a:r>
          </a:p>
          <a:p>
            <a:pPr marL="200000">
              <a:spcAft>
                <a:spcPts val="200"/>
              </a:spcAft>
            </a:pPr>
            <a:r>
              <a:rPr b="1" sz="1400" lang="en-US">
                <a:solidFill>
                  <a:srgbClr val="0F172A"/>
                </a:solidFill>
              </a:rPr>
              <a:t xml:space="preserve">Attitudes: </a:t>
            </a:r>
            <a:r>
              <a:rPr sz="1400" lang="en-US">
                <a:solidFill>
                  <a:srgbClr val="0F172A"/>
                </a:solidFill>
              </a:rPr>
              <a:t>perception of birth preparedness</a:t>
            </a:r>
          </a:p>
          <a:p>
            <a:pPr marL="200000">
              <a:spcAft>
                <a:spcPts val="400"/>
              </a:spcAft>
            </a:pPr>
            <a:r>
              <a:rPr b="1" sz="1400" lang="en-US">
                <a:solidFill>
                  <a:srgbClr val="C0392B"/>
                </a:solidFill>
              </a:rPr>
              <a:t xml:space="preserve">Practices (TARGET): </a:t>
            </a:r>
            <a:r>
              <a:rPr sz="1400" lang="en-US">
                <a:solidFill>
                  <a:srgbClr val="0F172A"/>
                </a:solidFill>
              </a:rPr>
              <a:t>8 items — removed from model inputs to prevent data leakage</a:t>
            </a:r>
          </a:p>
          <a:p>
            <a:pPr>
              <a:spcAft>
                <a:spcPts val="200"/>
              </a:spcAft>
            </a:pPr>
            <a:r>
              <a:rPr b="1" sz="1500" lang="en-US">
                <a:solidFill>
                  <a:srgbClr val="1a5276"/>
                </a:solidFill>
              </a:rPr>
              <a:t>Target variable:</a:t>
            </a:r>
          </a:p>
          <a:p>
            <a:pPr marL="200000"/>
            <a:r>
              <a:rPr sz="1400" lang="en-US">
                <a:solidFill>
                  <a:srgbClr val="0F172A"/>
                </a:solidFill>
              </a:rPr>
              <a:t>good_bpcr_practice = 1  if woman answered YES to at least 5 of 8 practice indicators</a:t>
            </a:r>
          </a:p>
        </p:txBody>
      </p:sp>
      <p:sp>
        <p:nvSpPr>
          <p:cNvPr id="8" name="Missing"/>
          <p:cNvSpPr txBox="1"/>
          <p:nvPr/>
        </p:nvSpPr>
        <p:spPr>
          <a:xfrm>
            <a:off x="6300000" y="2800000"/>
            <a:ext cx="5300000" cy="3700000"/>
          </a:xfrm>
          <a:prstGeom prst="rect">
            <a:avLst/>
          </a:prstGeom>
          <a:solidFill>
            <a:srgbClr val="FEF9E7"/>
          </a:solidFill>
        </p:spPr>
        <p:txBody>
          <a:bodyPr wrap="square" lIns="220000" rIns="220000" tIns="220000" bIns="220000">
            <a:spAutoFit/>
          </a:bodyPr>
          <a:lstStyle/>
          <a:p>
            <a:pPr>
              <a:spcAft>
                <a:spcPts val="300"/>
              </a:spcAft>
            </a:pPr>
            <a:r>
              <a:rPr b="1" sz="1500" lang="en-US">
                <a:solidFill>
                  <a:srgbClr val="B7950B"/>
                </a:solidFill>
              </a:rPr>
              <a:t>Missing Data — 3 Types</a:t>
            </a:r>
          </a:p>
          <a:p>
            <a:pPr>
              <a:spcAft>
                <a:spcPts val="200"/>
              </a:spcAft>
            </a:pPr>
            <a:r>
              <a:rPr b="1" sz="1400" lang="en-US">
                <a:solidFill>
                  <a:srgbClr val="0F172A"/>
                </a:solidFill>
              </a:rPr>
              <a:t xml:space="preserve">MNAR (~59%, src_*): </a:t>
            </a:r>
            <a:r>
              <a:rPr sz="1400" lang="en-US">
                <a:solidFill>
                  <a:srgbClr val="0F172A"/>
                </a:solidFill>
              </a:rPr>
              <a:t>Missing because woman never heard of BPCR — the gap itself is information. Use indicator variables.</a:t>
            </a:r>
          </a:p>
          <a:p>
            <a:pPr>
              <a:spcAft>
                <a:spcPts val="200"/>
              </a:spcAft>
            </a:pPr>
            <a:r>
              <a:rPr b="1" sz="1400" lang="en-US">
                <a:solidFill>
                  <a:srgbClr val="0F172A"/>
                </a:solidFill>
              </a:rPr>
              <a:t xml:space="preserve">MAR (~45%, kbc_*): </a:t>
            </a:r>
            <a:r>
              <a:rPr sz="1400" lang="en-US">
                <a:solidFill>
                  <a:srgbClr val="0F172A"/>
                </a:solidFill>
              </a:rPr>
              <a:t>Missing depends on another variable. Use conditional imputation.</a:t>
            </a:r>
          </a:p>
          <a:p>
            <a:pPr>
              <a:spcAft>
                <a:spcPts val="300"/>
              </a:spcAft>
            </a:pPr>
            <a:r>
              <a:rPr b="1" sz="1400" lang="en-US">
                <a:solidFill>
                  <a:srgbClr val="0F172A"/>
                </a:solidFill>
              </a:rPr>
              <a:t xml:space="preserve">MCAR (~2%, income): </a:t>
            </a:r>
            <a:r>
              <a:rPr sz="1400" lang="en-US">
                <a:solidFill>
                  <a:srgbClr val="0F172A"/>
                </a:solidFill>
              </a:rPr>
              <a:t>Truly random. Safe to fill with median.</a:t>
            </a:r>
          </a:p>
          <a:p>
            <a:pPr>
              <a:spcAft>
                <a:spcPts val="200"/>
              </a:spcAft>
            </a:pPr>
            <a:r>
              <a:rPr b="1" sz="1400" lang="en-US">
                <a:solidFill>
                  <a:srgbClr val="B7950B"/>
                </a:solidFill>
              </a:rPr>
              <a:t>Known data biases:</a:t>
            </a:r>
          </a:p>
          <a:p>
            <a:pPr marL="200000">
              <a:spcAft>
                <a:spcPts val="100"/>
              </a:spcAft>
            </a:pPr>
            <a:r>
              <a:rPr sz="1300" lang="en-US">
                <a:solidFill>
                  <a:srgbClr val="0F172A"/>
                </a:solidFill>
              </a:rPr>
              <a:t>- Selection bias (specific regions only)</a:t>
            </a:r>
          </a:p>
          <a:p>
            <a:pPr marL="200000">
              <a:spcAft>
                <a:spcPts val="100"/>
              </a:spcAft>
            </a:pPr>
            <a:r>
              <a:rPr sz="1300" lang="en-US">
                <a:solidFill>
                  <a:srgbClr val="0F172A"/>
                </a:solidFill>
              </a:rPr>
              <a:t>- Social desirability bias (over-reporting readiness)</a:t>
            </a:r>
          </a:p>
          <a:p>
            <a:pPr marL="200000"/>
            <a:r>
              <a:rPr sz="1300" lang="en-US">
                <a:solidFill>
                  <a:srgbClr val="0F172A"/>
                </a:solidFill>
              </a:rPr>
              <a:t>- Class imbalance (80.8% vs 19.2%)</a:t>
            </a:r>
          </a:p>
        </p:txBody>
      </p:sp>
      <p:sp>
        <p:nvSpPr>
          <p:cNvPr id="9" name="Num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00000"/>
            <a:ext cx="1115568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Algorithm Complexity — Why Models Differ in Speed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30352" y="710000"/>
            <a:ext cx="105156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Big-O notation shows how training and prediction time grow with data size and model parameters</a:t>
            </a:r>
          </a:p>
        </p:txBody>
      </p:sp>
      <p:sp>
        <p:nvSpPr>
          <p:cNvPr id="4" name="TblHeader"/>
          <p:cNvSpPr txBox="1"/>
          <p:nvPr/>
        </p:nvSpPr>
        <p:spPr>
          <a:xfrm>
            <a:off x="502920" y="1050000"/>
            <a:ext cx="7200000" cy="380000"/>
          </a:xfrm>
          <a:prstGeom prst="rect">
            <a:avLst/>
          </a:prstGeom>
          <a:solidFill>
            <a:srgbClr val="1a5276"/>
          </a:solidFill>
        </p:spPr>
        <p:txBody>
          <a:bodyPr wrap="square" lIns="150000" rIns="100000" tIns="100000" bIns="100000">
            <a:spAutoFit/>
          </a:bodyPr>
          <a:lstStyle/>
          <a:p>
            <a:r>
              <a:rPr b="1" sz="1400" lang="en-US">
                <a:solidFill>
                  <a:srgbClr val="FFFFFF"/>
                </a:solidFill>
              </a:rPr>
              <a:t xml:space="preserve">Model                    Training complexity          Prediction complexity</a:t>
            </a:r>
          </a:p>
        </p:txBody>
      </p:sp>
      <p:sp>
        <p:nvSpPr>
          <p:cNvPr id="5" name="TblRows"/>
          <p:cNvSpPr txBox="1"/>
          <p:nvPr/>
        </p:nvSpPr>
        <p:spPr>
          <a:xfrm>
            <a:off x="502920" y="1430000"/>
            <a:ext cx="7200000" cy="2600000"/>
          </a:xfrm>
          <a:prstGeom prst="rect">
            <a:avLst/>
          </a:prstGeom>
          <a:solidFill>
            <a:srgbClr val="FFFFFF"/>
          </a:solidFill>
        </p:spPr>
        <p:txBody>
          <a:bodyPr wrap="square" lIns="150000" rIns="100000" tIns="120000" bIns="100000">
            <a:spAutoFit/>
          </a:bodyPr>
          <a:lstStyle/>
          <a:p>
            <a:pPr>
              <a:spcAft>
                <a:spcPts val="200"/>
              </a:spcAft>
            </a:pPr>
            <a:r>
              <a:rPr b="1" sz="1400" lang="en-US">
                <a:solidFill>
                  <a:srgbClr val="0F172A"/>
                </a:solidFill>
              </a:rPr>
              <a:t xml:space="preserve">HGBC         </a:t>
            </a:r>
            <a:r>
              <a:rPr sz="1400" lang="en-US">
                <a:solidFill>
                  <a:srgbClr val="1a5276"/>
                </a:solidFill>
              </a:rPr>
              <a:t xml:space="preserve">O(T x n x d x b)        </a:t>
            </a:r>
            <a:r>
              <a:rPr sz="1400" lang="en-US">
                <a:solidFill>
                  <a:srgbClr val="028090"/>
                </a:solidFill>
              </a:rPr>
              <a:t>O(T x d)</a:t>
            </a:r>
          </a:p>
          <a:p>
            <a:pPr>
              <a:spcAft>
                <a:spcPts val="200"/>
              </a:spcAft>
            </a:pPr>
            <a:r>
              <a:rPr b="1" sz="1400" lang="en-US">
                <a:solidFill>
                  <a:srgbClr val="0F172A"/>
                </a:solidFill>
              </a:rPr>
              <a:t xml:space="preserve">XGBoost    </a:t>
            </a:r>
            <a:r>
              <a:rPr sz="1400" lang="en-US">
                <a:solidFill>
                  <a:srgbClr val="1a5276"/>
                </a:solidFill>
              </a:rPr>
              <a:t xml:space="preserve">O(T x n x d x b)        </a:t>
            </a:r>
            <a:r>
              <a:rPr sz="1400" lang="en-US">
                <a:solidFill>
                  <a:srgbClr val="028090"/>
                </a:solidFill>
              </a:rPr>
              <a:t>O(T x d)</a:t>
            </a:r>
          </a:p>
          <a:p>
            <a:pPr>
              <a:spcAft>
                <a:spcPts val="200"/>
              </a:spcAft>
            </a:pPr>
            <a:r>
              <a:rPr b="1" sz="1400" lang="en-US">
                <a:solidFill>
                  <a:srgbClr val="02C39A"/>
                </a:solidFill>
              </a:rPr>
              <a:t xml:space="preserve">LightGBM  </a:t>
            </a:r>
            <a:r>
              <a:rPr sz="1400" lang="en-US">
                <a:solidFill>
                  <a:srgbClr val="1a5276"/>
                </a:solidFill>
              </a:rPr>
              <a:t xml:space="preserve">O(T x n x k)              </a:t>
            </a:r>
            <a:r>
              <a:rPr sz="1400" lang="en-US">
                <a:solidFill>
                  <a:srgbClr val="028090"/>
                </a:solidFill>
              </a:rPr>
              <a:t>O(T x k)   faster!</a:t>
            </a:r>
          </a:p>
          <a:p>
            <a:pPr>
              <a:spcAft>
                <a:spcPts val="200"/>
              </a:spcAft>
            </a:pPr>
            <a:r>
              <a:rPr b="1" sz="1400" lang="en-US">
                <a:solidFill>
                  <a:srgbClr val="0F172A"/>
                </a:solidFill>
              </a:rPr>
              <a:t xml:space="preserve">CatBoost   </a:t>
            </a:r>
            <a:r>
              <a:rPr sz="1400" lang="en-US">
                <a:solidFill>
                  <a:srgbClr val="1a5276"/>
                </a:solidFill>
              </a:rPr>
              <a:t xml:space="preserve">O(T x n x d)              </a:t>
            </a:r>
            <a:r>
              <a:rPr sz="1400" lang="en-US">
                <a:solidFill>
                  <a:srgbClr val="028090"/>
                </a:solidFill>
              </a:rPr>
              <a:t>O(T x d)</a:t>
            </a:r>
          </a:p>
          <a:p>
            <a:pPr>
              <a:spcAft>
                <a:spcPts val="200"/>
              </a:spcAft>
            </a:pPr>
            <a:r>
              <a:rPr b="1" sz="1400" lang="en-US">
                <a:solidFill>
                  <a:srgbClr val="0F172A"/>
                </a:solidFill>
              </a:rPr>
              <a:t xml:space="preserve">MLP            </a:t>
            </a:r>
            <a:r>
              <a:rPr sz="1400" lang="en-US">
                <a:solidFill>
                  <a:srgbClr val="1a5276"/>
                </a:solidFill>
              </a:rPr>
              <a:t xml:space="preserve">O(E x n x H2)           </a:t>
            </a:r>
            <a:r>
              <a:rPr sz="1400" lang="en-US">
                <a:solidFill>
                  <a:srgbClr val="028090"/>
                </a:solidFill>
              </a:rPr>
              <a:t>O(H2)   fastest!</a:t>
            </a:r>
          </a:p>
        </p:txBody>
      </p:sp>
      <p:sp>
        <p:nvSpPr>
          <p:cNvPr id="6" name="Legend"/>
          <p:cNvSpPr txBox="1"/>
          <p:nvPr/>
        </p:nvSpPr>
        <p:spPr>
          <a:xfrm>
            <a:off x="502920" y="4130000"/>
            <a:ext cx="7200000" cy="2350000"/>
          </a:xfrm>
          <a:prstGeom prst="rect">
            <a:avLst/>
          </a:prstGeom>
          <a:solidFill>
            <a:srgbClr val="EAF4FB"/>
          </a:solidFill>
        </p:spPr>
        <p:txBody>
          <a:bodyPr wrap="square" lIns="200000" rIns="200000" tIns="180000" bIns="150000">
            <a:spAutoFit/>
          </a:bodyPr>
          <a:lstStyle/>
          <a:p>
            <a:pPr>
              <a:spcAft>
                <a:spcPts val="250"/>
              </a:spcAft>
            </a:pPr>
            <a:r>
              <a:rPr b="1" sz="1400" lang="en-US">
                <a:solidFill>
                  <a:srgbClr val="1a5276"/>
                </a:solidFill>
              </a:rPr>
              <a:t>What each letter means:</a:t>
            </a:r>
          </a:p>
          <a:p>
            <a:pPr marL="150000">
              <a:spcAft>
                <a:spcPts val="180"/>
              </a:spcAft>
            </a:pPr>
            <a:r>
              <a:rPr b="1" sz="1300" lang="en-US">
                <a:solidFill>
                  <a:srgbClr val="0F172A"/>
                </a:solidFill>
              </a:rPr>
              <a:t xml:space="preserve">T </a:t>
            </a:r>
            <a:r>
              <a:rPr sz="1300" lang="en-US">
                <a:solidFill>
                  <a:srgbClr val="0F172A"/>
                </a:solidFill>
              </a:rPr>
              <a:t>= number of trees / boosting rounds. More trees = better accuracy but slower. Typical: 100-1000.</a:t>
            </a:r>
          </a:p>
          <a:p>
            <a:pPr marL="150000">
              <a:spcAft>
                <a:spcPts val="180"/>
              </a:spcAft>
            </a:pPr>
            <a:r>
              <a:rPr b="1" sz="1300" lang="en-US">
                <a:solidFill>
                  <a:srgbClr val="0F172A"/>
                </a:solidFill>
              </a:rPr>
              <a:t xml:space="preserve">n </a:t>
            </a:r>
            <a:r>
              <a:rPr sz="1300" lang="en-US">
                <a:solidFill>
                  <a:srgbClr val="0F172A"/>
                </a:solidFill>
              </a:rPr>
              <a:t>= number of training samples (rows). Our dataset: n = 411.</a:t>
            </a:r>
          </a:p>
          <a:p>
            <a:pPr marL="150000">
              <a:spcAft>
                <a:spcPts val="180"/>
              </a:spcAft>
            </a:pPr>
            <a:r>
              <a:rPr b="1" sz="1300" lang="en-US">
                <a:solidFill>
                  <a:srgbClr val="0F172A"/>
                </a:solidFill>
              </a:rPr>
              <a:t xml:space="preserve">d </a:t>
            </a:r>
            <a:r>
              <a:rPr sz="1300" lang="en-US">
                <a:solidFill>
                  <a:srgbClr val="0F172A"/>
                </a:solidFill>
              </a:rPr>
              <a:t>= number of features (columns). After selection we use 14-28 features.</a:t>
            </a:r>
          </a:p>
          <a:p>
            <a:pPr marL="150000">
              <a:spcAft>
                <a:spcPts val="180"/>
              </a:spcAft>
            </a:pPr>
            <a:r>
              <a:rPr b="1" sz="1300" lang="en-US">
                <a:solidFill>
                  <a:srgbClr val="0F172A"/>
                </a:solidFill>
              </a:rPr>
              <a:t xml:space="preserve">b </a:t>
            </a:r>
            <a:r>
              <a:rPr sz="1300" lang="en-US">
                <a:solidFill>
                  <a:srgbClr val="0F172A"/>
                </a:solidFill>
              </a:rPr>
              <a:t>= number of bins (histogram buckets for splits). HGBC/XGBoost discretize features into bins to find splits faster.</a:t>
            </a:r>
          </a:p>
          <a:p>
            <a:pPr marL="150000">
              <a:spcAft>
                <a:spcPts val="180"/>
              </a:spcAft>
            </a:pPr>
            <a:r>
              <a:rPr b="1" sz="1300" lang="en-US">
                <a:solidFill>
                  <a:srgbClr val="02C39A"/>
                </a:solidFill>
              </a:rPr>
              <a:t xml:space="preserve">k </a:t>
            </a:r>
            <a:r>
              <a:rPr sz="1300" lang="en-US">
                <a:solidFill>
                  <a:srgbClr val="0F172A"/>
                </a:solidFill>
              </a:rPr>
              <a:t>= number of leaves (LightGBM only). Leaf-wise growth: k is much smaller than n x d, so LightGBM is faster.</a:t>
            </a:r>
          </a:p>
          <a:p>
            <a:pPr marL="150000"/>
            <a:r>
              <a:rPr b="1" sz="1300" lang="en-US">
                <a:solidFill>
                  <a:srgbClr val="0F172A"/>
                </a:solidFill>
              </a:rPr>
              <a:t xml:space="preserve">E, H </a:t>
            </a:r>
            <a:r>
              <a:rPr sz="1300" lang="en-US">
                <a:solidFill>
                  <a:srgbClr val="0F172A"/>
                </a:solidFill>
              </a:rPr>
              <a:t>= epochs and hidden layer size (MLP). Prediction is O(H2) — constant over n, so batch inference is very fast.</a:t>
            </a:r>
          </a:p>
        </p:txBody>
      </p:sp>
      <p:sp>
        <p:nvSpPr>
          <p:cNvPr id="7" name="Insight1"/>
          <p:cNvSpPr txBox="1"/>
          <p:nvPr/>
        </p:nvSpPr>
        <p:spPr>
          <a:xfrm>
            <a:off x="7900000" y="1050000"/>
            <a:ext cx="3700000" cy="1500000"/>
          </a:xfrm>
          <a:prstGeom prst="rect">
            <a:avLst/>
          </a:prstGeom>
          <a:solidFill>
            <a:srgbClr val="EBF5FB"/>
          </a:solidFill>
        </p:spPr>
        <p:txBody>
          <a:bodyPr wrap="square" lIns="200000" rIns="200000" tIns="180000" bIns="150000">
            <a:spAutoFit/>
          </a:bodyPr>
          <a:lstStyle/>
          <a:p>
            <a:pPr>
              <a:spcAft>
                <a:spcPts val="200"/>
              </a:spcAft>
            </a:pPr>
            <a:r>
              <a:rPr b="1" sz="1400" lang="en-US">
                <a:solidFill>
                  <a:srgbClr val="02C39A"/>
                </a:solidFill>
              </a:rPr>
              <a:t>Why LightGBM wins</a:t>
            </a:r>
          </a:p>
          <a:p>
            <a:r>
              <a:rPr sz="1300" lang="en-US">
                <a:solidFill>
                  <a:srgbClr val="0F172A"/>
                </a:solidFill>
              </a:rPr>
              <a:t>XGBoost grows trees level-by-level (all nodes per level). LightGBM grows leaf-by-leaf (only the best leaf). Result: same depth, far fewer operations.</a:t>
            </a:r>
          </a:p>
        </p:txBody>
      </p:sp>
      <p:sp>
        <p:nvSpPr>
          <p:cNvPr id="8" name="Insight2"/>
          <p:cNvSpPr txBox="1"/>
          <p:nvPr/>
        </p:nvSpPr>
        <p:spPr>
          <a:xfrm>
            <a:off x="7900000" y="2700000"/>
            <a:ext cx="3700000" cy="1500000"/>
          </a:xfrm>
          <a:prstGeom prst="rect">
            <a:avLst/>
          </a:prstGeom>
          <a:solidFill>
            <a:srgbClr val="FDEDEC"/>
          </a:solidFill>
        </p:spPr>
        <p:txBody>
          <a:bodyPr wrap="square" lIns="200000" rIns="200000" tIns="180000" bIns="150000">
            <a:spAutoFit/>
          </a:bodyPr>
          <a:lstStyle/>
          <a:p>
            <a:pPr>
              <a:spcAft>
                <a:spcPts val="200"/>
              </a:spcAft>
            </a:pPr>
            <a:r>
              <a:rPr b="1" sz="1400" lang="en-US">
                <a:solidFill>
                  <a:srgbClr val="C0392B"/>
                </a:solidFill>
              </a:rPr>
              <a:t>Why Multi-seed is slowest</a:t>
            </a:r>
          </a:p>
          <a:p>
            <a:r>
              <a:rPr sz="1300" lang="en-US">
                <a:solidFill>
                  <a:srgbClr val="0F172A"/>
                </a:solidFill>
              </a:rPr>
              <a:t>3 models x 3 seeds = 9 full training runs. The 3.03s total is just sum of individual model times multiplied by seed count.</a:t>
            </a:r>
          </a:p>
        </p:txBody>
      </p:sp>
      <p:sp>
        <p:nvSpPr>
          <p:cNvPr id="9" name="Insight3"/>
          <p:cNvSpPr txBox="1"/>
          <p:nvPr/>
        </p:nvSpPr>
        <p:spPr>
          <a:xfrm>
            <a:off x="7900000" y="4350000"/>
            <a:ext cx="3700000" cy="2100000"/>
          </a:xfrm>
          <a:prstGeom prst="rect">
            <a:avLst/>
          </a:prstGeom>
          <a:solidFill>
            <a:srgbClr val="0F172A"/>
          </a:solidFill>
        </p:spPr>
        <p:txBody>
          <a:bodyPr wrap="square" lIns="200000" rIns="200000" tIns="200000" bIns="180000">
            <a:spAutoFit/>
          </a:bodyPr>
          <a:lstStyle/>
          <a:p>
            <a:pPr>
              <a:spcAft>
                <a:spcPts val="200"/>
              </a:spcAft>
            </a:pPr>
            <a:r>
              <a:rPr b="1" sz="1400" lang="en-US">
                <a:solidFill>
                  <a:srgbClr val="02C39A"/>
                </a:solidFill>
              </a:rPr>
              <a:t>Feature count impact</a:t>
            </a:r>
          </a:p>
          <a:p>
            <a:pPr>
              <a:spcAft>
                <a:spcPts val="150"/>
              </a:spcAft>
            </a:pPr>
            <a:r>
              <a:rPr sz="1300" lang="en-US">
                <a:solidFill>
                  <a:srgbClr val="94A3B8"/>
                </a:solidFill>
              </a:rPr>
              <a:t>Started with 44 raw features</a:t>
            </a:r>
          </a:p>
          <a:p>
            <a:pPr>
              <a:spcAft>
                <a:spcPts val="150"/>
              </a:spcAft>
            </a:pPr>
            <a:r>
              <a:rPr sz="1300" lang="en-US">
                <a:solidFill>
                  <a:srgbClr val="94A3B8"/>
                </a:solidFill>
              </a:rPr>
              <a:t>After engineering: 83 features</a:t>
            </a:r>
          </a:p>
          <a:p>
            <a:pPr>
              <a:spcAft>
                <a:spcPts val="150"/>
              </a:spcAft>
            </a:pPr>
            <a:r>
              <a:rPr sz="1300" lang="en-US">
                <a:solidFill>
                  <a:srgbClr val="FFFFFF"/>
                </a:solidFill>
              </a:rPr>
              <a:t>After consensus selection (2+ methods): 28</a:t>
            </a:r>
          </a:p>
          <a:p>
            <a:r>
              <a:rPr b="1" sz="1300" lang="en-US">
                <a:solidFill>
                  <a:srgbClr val="02C39A"/>
                </a:solidFill>
              </a:rPr>
              <a:t>After strict selection (4/4 methods): 14</a:t>
            </a:r>
          </a:p>
        </p:txBody>
      </p:sp>
      <p:sp>
        <p:nvSpPr>
          <p:cNvPr id="10" name="Num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